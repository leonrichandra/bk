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430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Data Science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17830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4F8A67"/>
                </a:solidFill>
              </a:rPr>
              <a:t>Mengolah Data Menjadi Cerita Bisnis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2395728"/>
            <a:ext cx="196596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432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C1C"/>
                </a:solidFill>
              </a:rPr>
              <a:t>Balik Kampoeng × SMAN 1 Boyolali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C1C1C"/>
                </a:solidFill>
              </a:rPr>
              <a:t>29 Mei 2026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8717A"/>
                </a:solidFill>
              </a:rPr>
              <a:t>Dari raw dataset → insight → visualisasi → prediksi sederhana → laporan PDF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35440" y="1143000"/>
            <a:ext cx="1645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FFFFFF"/>
                </a:solidFill>
              </a:rPr>
              <a:t>🐄</a:t>
            </a:r>
            <a:endParaRPr lang="en-US" sz="5800" dirty="0"/>
          </a:p>
          <a:p>
            <a:pPr algn="ctr" indent="0" marL="0">
              <a:buNone/>
            </a:pPr>
            <a:r>
              <a:rPr lang="en-US" sz="5800" dirty="0">
                <a:solidFill>
                  <a:srgbClr val="FFFFFF"/>
                </a:solidFill>
              </a:rPr>
              <a:t>📊</a:t>
            </a:r>
            <a:endParaRPr lang="en-US" sz="5800" dirty="0"/>
          </a:p>
          <a:p>
            <a:pPr algn="ctr" indent="0" marL="0">
              <a:buNone/>
            </a:pPr>
            <a:r>
              <a:rPr lang="en-US" sz="5800" dirty="0">
                <a:solidFill>
                  <a:srgbClr val="FFFFFF"/>
                </a:solidFill>
              </a:rPr>
              <a:t>🤖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8823960" y="5074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Belajar seperti data analyst muda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Misi hari ini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Kalian menjadi data analyst muda untuk membantu bisnis susu lokal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324A"/>
                </a:solidFill>
              </a:rPr>
              <a:t>Pak Bambang punya data penjualan, tapi belum tahu cerita di balik angkanya.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493776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800" dirty="0">
                <a:solidFill>
                  <a:srgbClr val="1C1C1C"/>
                </a:solidFill>
              </a:rPr>
              <a:t>Produk apa yang paling laris dan paling menguntungkan?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Kecamatan mana yang punya potensi penjualan terbesar?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Apakah promo benar-benar menaikkan penjualan?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Bisakah kita memprediksi penjualan Susu Segar dari kondisi harian?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37960" y="1645920"/>
            <a:ext cx="4389120" cy="3474720"/>
          </a:xfrm>
          <a:prstGeom prst="roundRect">
            <a:avLst>
              <a:gd name="adj" fmla="val 3947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8A67"/>
                </a:solidFill>
              </a:rPr>
              <a:t>Output akhir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86600" y="2514600"/>
            <a:ext cx="310896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324A"/>
                </a:solidFill>
              </a:rPr>
              <a:t>Laporan PDF ringkas yang berisi insight, grafik, dan rekomendasi bisnis.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78040" y="3840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8717A"/>
                </a:solidFill>
              </a:rPr>
              <a:t>raw data → clean data → story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Kenapa data science penting sekarang?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AI dan keputusan bisnis sama-sama membutuhkan data yang rapi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3154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099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F5D80"/>
                </a:solidFill>
              </a:rPr>
              <a:t>AI butuh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075688"/>
            <a:ext cx="26974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ChatGPT, rekomendasi produk, dan sistem prediksi semuanya belajar dari pola dalam data.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526280" y="1508760"/>
            <a:ext cx="3154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7099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F8A67"/>
                </a:solidFill>
              </a:rPr>
              <a:t>Bisnis butuh keputusan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075688"/>
            <a:ext cx="26974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Stok, promo, harga, dan distribusi lebih kuat jika didukung angka, bukan feeling saja.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275320" y="1508760"/>
            <a:ext cx="3154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7099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</a:rPr>
              <a:t>Karier masa depan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0" y="2075688"/>
            <a:ext cx="269748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Data analyst, data engineer, AI engineer, business analyst, dan product analyst.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91440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24A"/>
                </a:solidFill>
              </a:rPr>
              <a:t>Hari ini kita fokus pada skill praktis: membaca data, membersihkan data, membuat grafik, dan menyampaikan insight.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Konteks lokal: Boyolali dan produk susu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Dataset dibuat dekat dengan isu lokal agar analisis terasa nyata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4663440" cy="4114800"/>
          </a:xfrm>
          <a:prstGeom prst="roundRect">
            <a:avLst>
              <a:gd name="adj" fmla="val 3111"/>
            </a:avLst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920240"/>
            <a:ext cx="39319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Boyolali dikenal sebagai salah satu sentra susu di Jawa Tengah. Itu membuat tema penjualan susu relevan dan mudah dibayangkan oleh siswa.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3E6"/>
                </a:solidFill>
              </a:rPr>
              <a:t>Dataset: synthetic untuk latihan, bukan data perusahaan asli.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89320" y="1691640"/>
            <a:ext cx="521208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800" dirty="0">
                <a:solidFill>
                  <a:srgbClr val="1C1C1C"/>
                </a:solidFill>
              </a:rPr>
              <a:t>Produk: Susu Segar, Susu UHT, Yogurt, Keju Mozzarella, Permen Susu, Es Krim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Lokasi: Cepogo, Selo, Ampel, Mojosongo, Musuk, Boyolali Kota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Variabel: suhu udara, promo, hari libur, stok, channel, rating, biaya distribusi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35040" y="452628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4768" y="4622292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8A67"/>
                </a:solidFill>
              </a:rPr>
              <a:t>Local problem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18120" y="45262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7848" y="4622292"/>
            <a:ext cx="1426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D80"/>
                </a:solidFill>
              </a:rPr>
              <a:t>Realistic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92640" y="452628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FF0D7"/>
          </a:solidFill>
          <a:ln w="12700">
            <a:solidFill>
              <a:srgbClr val="FFF0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02368" y="4622292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541"/>
                </a:solidFill>
              </a:rPr>
              <a:t>Career-ready skill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akhir workshop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Bukan hanya kode — tetapi laporan yang bisa dibaca orang lain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24A"/>
                </a:solidFill>
              </a:rPr>
              <a:t>Notebook Colab akan disusun seperti mini report profesional: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2057400"/>
            <a:ext cx="580644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80" dirty="0">
                <a:solidFill>
                  <a:srgbClr val="1C1C1C"/>
                </a:solidFill>
              </a:rPr>
              <a:t>Executive summary: ringkasan 3–4 temuan utama</a:t>
            </a:r>
            <a:endParaRPr lang="en-US" sz="1680" dirty="0"/>
          </a:p>
          <a:p>
            <a:r>
              <a:rPr lang="en-US" sz="1680" dirty="0">
                <a:solidFill>
                  <a:srgbClr val="1C1C1C"/>
                </a:solidFill>
              </a:rPr>
              <a:t>Data cleaning: masalah data dan cara memperbaikinya</a:t>
            </a:r>
            <a:endParaRPr lang="en-US" sz="1680" dirty="0"/>
          </a:p>
          <a:p>
            <a:r>
              <a:rPr lang="en-US" sz="1680" dirty="0">
                <a:solidFill>
                  <a:srgbClr val="1C1C1C"/>
                </a:solidFill>
              </a:rPr>
              <a:t>Business analysis: jawaban dari pertanyaan Pak Bambang</a:t>
            </a:r>
            <a:endParaRPr lang="en-US" sz="1680" dirty="0"/>
          </a:p>
          <a:p>
            <a:r>
              <a:rPr lang="en-US" sz="1680" dirty="0">
                <a:solidFill>
                  <a:srgbClr val="1C1C1C"/>
                </a:solidFill>
              </a:rPr>
              <a:t>Visualisasi: grafik yang membantu memahami pola</a:t>
            </a:r>
            <a:endParaRPr lang="en-US" sz="1680" dirty="0"/>
          </a:p>
          <a:p>
            <a:r>
              <a:rPr lang="en-US" sz="1680" dirty="0">
                <a:solidFill>
                  <a:srgbClr val="1C1C1C"/>
                </a:solidFill>
              </a:rPr>
              <a:t>Prediction + anomaly detection: bagian “wah” dari data science</a:t>
            </a:r>
            <a:endParaRPr lang="en-US" sz="1680" dirty="0"/>
          </a:p>
          <a:p>
            <a:r>
              <a:rPr lang="en-US" sz="1680" dirty="0">
                <a:solidFill>
                  <a:srgbClr val="1C1C1C"/>
                </a:solidFill>
              </a:rPr>
              <a:t>Rekomendasi: tindakan yang bisa dilakukan berdasarkan data</a:t>
            </a:r>
            <a:endParaRPr lang="en-US" sz="1680" dirty="0"/>
          </a:p>
        </p:txBody>
      </p:sp>
      <p:sp>
        <p:nvSpPr>
          <p:cNvPr id="6" name="Shape 4"/>
          <p:cNvSpPr/>
          <p:nvPr/>
        </p:nvSpPr>
        <p:spPr>
          <a:xfrm>
            <a:off x="7543800" y="160020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7F9FA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4964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534F"/>
                </a:solidFill>
              </a:rPr>
              <a:t>PDF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138160" y="2651760"/>
            <a:ext cx="2148840" cy="118872"/>
          </a:xfrm>
          <a:prstGeom prst="rect">
            <a:avLst/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3063240"/>
            <a:ext cx="2148840" cy="118872"/>
          </a:xfrm>
          <a:prstGeom prst="rect">
            <a:avLst/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3474720"/>
            <a:ext cx="1737360" cy="118872"/>
          </a:xfrm>
          <a:prstGeom prst="rect">
            <a:avLst/>
          </a:prstGeom>
          <a:solidFill>
            <a:srgbClr val="DCE3E6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36992" y="43891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24A"/>
                </a:solidFill>
              </a:rPr>
              <a:t>File → Print → Save as PDF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Rundown 2.5 jam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Struktur dibuat aman untuk kelas ±30 siswa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60120" y="14173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24A"/>
                </a:solidFill>
              </a:rPr>
              <a:t>Waktu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31720" y="1417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24A"/>
                </a:solidFill>
              </a:rPr>
              <a:t>Bagian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60520" y="1417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24A"/>
                </a:solidFill>
              </a:rPr>
              <a:t>Fokus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A67"/>
                </a:solidFill>
              </a:rPr>
              <a:t>0:00–0:20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8288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24A"/>
                </a:solidFill>
              </a:rPr>
              <a:t>Opening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60520" y="18288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Misi, karier, konteks AI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23591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A67"/>
                </a:solidFill>
              </a:rPr>
              <a:t>0:20–0:35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23591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24A"/>
                </a:solidFill>
              </a:rPr>
              <a:t>Setup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60520" y="23591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Colab, load data, first look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8895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A67"/>
                </a:solidFill>
              </a:rPr>
              <a:t>0:35–1:00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28895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24A"/>
                </a:solidFill>
              </a:rPr>
              <a:t>Cleaning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60520" y="288950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missing value, duplicate, string cleaning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4198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A67"/>
                </a:solidFill>
              </a:rPr>
              <a:t>1:00–1:10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34198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24A"/>
                </a:solidFill>
              </a:rPr>
              <a:t>Break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60520" y="341985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reset fokus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0120" y="39502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A67"/>
                </a:solidFill>
              </a:rPr>
              <a:t>1:10–1:35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39502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24A"/>
                </a:solidFill>
              </a:rPr>
              <a:t>Analysis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60520" y="395020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groupby, pivot, business questions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" y="44805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A67"/>
                </a:solidFill>
              </a:rPr>
              <a:t>1:35–2:00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44805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24A"/>
                </a:solidFill>
              </a:rPr>
              <a:t>Visualization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60520" y="448056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bar, line, interactive chart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50109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A67"/>
                </a:solidFill>
              </a:rPr>
              <a:t>2:00–2:25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501091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24A"/>
                </a:solidFill>
              </a:rPr>
              <a:t>Wah section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60520" y="501091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correlation, prediction, anomaly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0120" y="5541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A67"/>
                </a:solidFill>
              </a:rPr>
              <a:t>2:25–2:30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31720" y="55412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24A"/>
                </a:solidFill>
              </a:rPr>
              <a:t>Closing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60520" y="554126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</a:rPr>
              <a:t>summary, export PDF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 yang dipakai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Sengaja dibuat low setup dan gratis di Google Colab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322576" y="2130552"/>
            <a:ext cx="320040" cy="256032"/>
          </a:xfrm>
          <a:prstGeom prst="chevron">
            <a:avLst/>
          </a:prstGeom>
          <a:solidFill>
            <a:srgbClr val="D9E6EA"/>
          </a:solidFill>
          <a:ln w="12700">
            <a:solidFill>
              <a:srgbClr val="D9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975104"/>
            <a:ext cx="292608" cy="292608"/>
          </a:xfrm>
          <a:prstGeom prst="ellipse">
            <a:avLst/>
          </a:prstGeom>
          <a:solidFill>
            <a:srgbClr val="2F5D80"/>
          </a:solidFill>
          <a:ln w="12700">
            <a:solidFill>
              <a:srgbClr val="2F5D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2082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98448" y="1975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324A"/>
                </a:solidFill>
              </a:rPr>
              <a:t>Colab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0976" y="2304288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8717A"/>
                </a:solidFill>
              </a:rPr>
              <a:t>coding di browser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334256" y="2130552"/>
            <a:ext cx="320040" cy="256032"/>
          </a:xfrm>
          <a:prstGeom prst="chevron">
            <a:avLst/>
          </a:prstGeom>
          <a:solidFill>
            <a:srgbClr val="D9E6EA"/>
          </a:solidFill>
          <a:ln w="12700">
            <a:solidFill>
              <a:srgbClr val="D9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8288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4368" y="1975104"/>
            <a:ext cx="292608" cy="292608"/>
          </a:xfrm>
          <a:prstGeom prst="ellipse">
            <a:avLst/>
          </a:prstGeom>
          <a:solidFill>
            <a:srgbClr val="4F8A67"/>
          </a:solidFill>
          <a:ln w="12700">
            <a:solidFill>
              <a:srgbClr val="4F8A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02082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10128" y="1975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324A"/>
                </a:solidFill>
              </a:rPr>
              <a:t>pandas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62656" y="2304288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8717A"/>
                </a:solidFill>
              </a:rPr>
              <a:t>olah tabel data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345936" y="2130552"/>
            <a:ext cx="320040" cy="256032"/>
          </a:xfrm>
          <a:prstGeom prst="chevron">
            <a:avLst/>
          </a:prstGeom>
          <a:solidFill>
            <a:srgbClr val="D9E6EA"/>
          </a:solidFill>
          <a:ln w="12700">
            <a:solidFill>
              <a:srgbClr val="D9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8288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6048" y="1975104"/>
            <a:ext cx="292608" cy="29260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02082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21808" y="1975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324A"/>
                </a:solidFill>
              </a:rPr>
              <a:t>matplotlib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74336" y="2304288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8717A"/>
                </a:solidFill>
              </a:rPr>
              <a:t>grafik dasar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8357616" y="2130552"/>
            <a:ext cx="320040" cy="256032"/>
          </a:xfrm>
          <a:prstGeom prst="chevron">
            <a:avLst/>
          </a:prstGeom>
          <a:solidFill>
            <a:srgbClr val="D9E6EA"/>
          </a:solidFill>
          <a:ln w="12700">
            <a:solidFill>
              <a:srgbClr val="D9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18288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67728" y="1975104"/>
            <a:ext cx="292608" cy="292608"/>
          </a:xfrm>
          <a:prstGeom prst="ellipse">
            <a:avLst/>
          </a:prstGeom>
          <a:solidFill>
            <a:srgbClr val="2F5D80"/>
          </a:solidFill>
          <a:ln w="12700">
            <a:solidFill>
              <a:srgbClr val="2F5D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02082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33488" y="1975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324A"/>
                </a:solidFill>
              </a:rPr>
              <a:t>plotly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6016" y="2304288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8717A"/>
                </a:solidFill>
              </a:rPr>
              <a:t>grafik interaktif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10369296" y="2130552"/>
            <a:ext cx="320040" cy="256032"/>
          </a:xfrm>
          <a:prstGeom prst="chevron">
            <a:avLst/>
          </a:prstGeom>
          <a:solidFill>
            <a:srgbClr val="D9E6EA"/>
          </a:solidFill>
          <a:ln w="12700">
            <a:solidFill>
              <a:srgbClr val="D9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69680" y="18288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79408" y="1975104"/>
            <a:ext cx="292608" cy="292608"/>
          </a:xfrm>
          <a:prstGeom prst="ellipse">
            <a:avLst/>
          </a:prstGeom>
          <a:solidFill>
            <a:srgbClr val="4F8A67"/>
          </a:solidFill>
          <a:ln w="12700">
            <a:solidFill>
              <a:srgbClr val="4F8A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202082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345168" y="1975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324A"/>
                </a:solidFill>
              </a:rPr>
              <a:t>sklearn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97696" y="2304288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8717A"/>
                </a:solidFill>
              </a:rPr>
              <a:t>prediksi sederhana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097280" y="425196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8324A"/>
                </a:solidFill>
              </a:rPr>
              <a:t>Prinsip utama: jangan hafal semua fungsi — pahami pola kerja data analyst.</a:t>
            </a:r>
            <a:endParaRPr lang="en-US" sz="2300" dirty="0"/>
          </a:p>
        </p:txBody>
      </p:sp>
      <p:sp>
        <p:nvSpPr>
          <p:cNvPr id="35" name="Text 33"/>
          <p:cNvSpPr/>
          <p:nvPr/>
        </p:nvSpPr>
        <p:spPr>
          <a:xfrm>
            <a:off x="1508760" y="49834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8717A"/>
                </a:solidFill>
              </a:rPr>
              <a:t>Load → Explore → Clean → Analyze → Visualize → Predict → Recommend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Dataset: Penjualan Produk Susu Boyolali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±2.100 baris transaksi synthetic dengan kolom berbahasa Indonesia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60120" y="1389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24A"/>
                </a:solidFill>
              </a:rPr>
              <a:t>Kolom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46120" y="1389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24A"/>
                </a:solidFill>
              </a:rPr>
              <a:t>Contoh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94960" y="1389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24A"/>
                </a:solidFill>
              </a:rPr>
              <a:t>Tipe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86600" y="13898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324A"/>
                </a:solidFill>
              </a:rPr>
              <a:t>Gunanya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8470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A67"/>
                </a:solidFill>
              </a:rPr>
              <a:t>tanggal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4612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2025-09-18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94960" y="1847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</a:rPr>
              <a:t>date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86600" y="18470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tren waktu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23500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A67"/>
                </a:solidFill>
              </a:rPr>
              <a:t>produk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46120" y="2350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Susu Segar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94960" y="2350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</a:rPr>
              <a:t>category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86600" y="23500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produk terjual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28529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A67"/>
                </a:solidFill>
              </a:rPr>
              <a:t>kecamatan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2852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Cepogo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94960" y="2852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</a:rPr>
              <a:t>category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86600" y="2852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area penjualan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33558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A67"/>
                </a:solidFill>
              </a:rPr>
              <a:t>jumlah_terjual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46120" y="3355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73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94960" y="33558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</a:rPr>
              <a:t>number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86600" y="33558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volume demand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3858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A67"/>
                </a:solidFill>
              </a:rPr>
              <a:t>suhu_udara_celsius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4612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29.3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94960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</a:rPr>
              <a:t>number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86600" y="38587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konteks harian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43616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A67"/>
                </a:solidFill>
              </a:rPr>
              <a:t>promo_aktif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6120" y="4361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Ya / Tidak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94960" y="4361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</a:rPr>
              <a:t>category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86600" y="43616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efek promosi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" y="4864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8A67"/>
                </a:solidFill>
              </a:rPr>
              <a:t>total_penjualan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46120" y="4864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876000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94960" y="48646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541"/>
                </a:solidFill>
              </a:rPr>
              <a:t>number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86600" y="4864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revenue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05840" y="5989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9534F"/>
                </a:solidFill>
              </a:rPr>
              <a:t>Ada sengaja “data kotor”: harga kosong, nama produk tidak konsisten, duplikat, dan satu data anomali.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data science hari ini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Urutannya sama seperti pekerjaan data analyst di dunia nyata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276856" y="2359152"/>
            <a:ext cx="320040" cy="256032"/>
          </a:xfrm>
          <a:prstGeom prst="chevron">
            <a:avLst/>
          </a:prstGeom>
          <a:solidFill>
            <a:srgbClr val="D9E6EA"/>
          </a:solidFill>
          <a:ln w="12700">
            <a:solidFill>
              <a:srgbClr val="D9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203704"/>
            <a:ext cx="292608" cy="292608"/>
          </a:xfrm>
          <a:prstGeom prst="ellipse">
            <a:avLst/>
          </a:prstGeom>
          <a:solidFill>
            <a:srgbClr val="2F5D80"/>
          </a:solidFill>
          <a:ln w="12700">
            <a:solidFill>
              <a:srgbClr val="2F5D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4942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52728" y="22037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324A"/>
                </a:solidFill>
              </a:rPr>
              <a:t>Raw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05256" y="2532888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8717A"/>
                </a:solidFill>
              </a:rPr>
              <a:t>CSV mentah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288536" y="2359152"/>
            <a:ext cx="320040" cy="256032"/>
          </a:xfrm>
          <a:prstGeom prst="chevron">
            <a:avLst/>
          </a:prstGeom>
          <a:solidFill>
            <a:srgbClr val="D9E6EA"/>
          </a:solidFill>
          <a:ln w="12700">
            <a:solidFill>
              <a:srgbClr val="D9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20574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98648" y="2203704"/>
            <a:ext cx="292608" cy="292608"/>
          </a:xfrm>
          <a:prstGeom prst="ellipse">
            <a:avLst/>
          </a:prstGeom>
          <a:solidFill>
            <a:srgbClr val="4F8A67"/>
          </a:solidFill>
          <a:ln w="12700">
            <a:solidFill>
              <a:srgbClr val="4F8A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24942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64408" y="22037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324A"/>
                </a:solidFill>
              </a:rPr>
              <a:t>Cleaning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16936" y="2532888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8717A"/>
                </a:solidFill>
              </a:rPr>
              <a:t>rapikan data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300216" y="2359152"/>
            <a:ext cx="320040" cy="256032"/>
          </a:xfrm>
          <a:prstGeom prst="chevron">
            <a:avLst/>
          </a:prstGeom>
          <a:solidFill>
            <a:srgbClr val="D9E6EA"/>
          </a:solidFill>
          <a:ln w="12700">
            <a:solidFill>
              <a:srgbClr val="D9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0574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0328" y="2203704"/>
            <a:ext cx="292608" cy="29260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24942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76088" y="22037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324A"/>
                </a:solidFill>
              </a:rPr>
              <a:t>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28616" y="2532888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8717A"/>
                </a:solidFill>
              </a:rPr>
              <a:t>jawab pertanyaan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8311896" y="2359152"/>
            <a:ext cx="320040" cy="256032"/>
          </a:xfrm>
          <a:prstGeom prst="chevron">
            <a:avLst/>
          </a:prstGeom>
          <a:solidFill>
            <a:srgbClr val="D9E6EA"/>
          </a:solidFill>
          <a:ln w="12700">
            <a:solidFill>
              <a:srgbClr val="D9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20574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22008" y="2203704"/>
            <a:ext cx="292608" cy="292608"/>
          </a:xfrm>
          <a:prstGeom prst="ellipse">
            <a:avLst/>
          </a:prstGeom>
          <a:solidFill>
            <a:srgbClr val="2F5D80"/>
          </a:solidFill>
          <a:ln w="12700">
            <a:solidFill>
              <a:srgbClr val="2F5D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24942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87768" y="22037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324A"/>
                </a:solidFill>
              </a:rPr>
              <a:t>Visualization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0296" y="2532888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8717A"/>
                </a:solidFill>
              </a:rPr>
              <a:t>buat grafik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10323576" y="2359152"/>
            <a:ext cx="320040" cy="256032"/>
          </a:xfrm>
          <a:prstGeom prst="chevron">
            <a:avLst/>
          </a:prstGeom>
          <a:solidFill>
            <a:srgbClr val="D9E6EA"/>
          </a:solidFill>
          <a:ln w="12700">
            <a:solidFill>
              <a:srgbClr val="D9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20574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33688" y="2203704"/>
            <a:ext cx="292608" cy="292608"/>
          </a:xfrm>
          <a:prstGeom prst="ellipse">
            <a:avLst/>
          </a:prstGeom>
          <a:solidFill>
            <a:srgbClr val="4F8A67"/>
          </a:solidFill>
          <a:ln w="12700">
            <a:solidFill>
              <a:srgbClr val="4F8A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06840" y="2249424"/>
            <a:ext cx="1463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299448" y="22037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324A"/>
                </a:solidFill>
              </a:rPr>
              <a:t>Story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51976" y="2532888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8717A"/>
                </a:solidFill>
              </a:rPr>
              <a:t>rekomendasi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280160" y="416052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324A"/>
                </a:solidFill>
              </a:rPr>
              <a:t>Kita akan mengulang pola ini beberapa kali sampai data berubah menjadi cerita bisnis.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Setup Colab: 3 hal saja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Pastikan semua siswa bisa mulai tanpa instalasi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3017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5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F5D80"/>
                </a:solidFill>
              </a:rPr>
              <a:t>1. Buka Colab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121408"/>
            <a:ext cx="25603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Gunakan akun Google. Tidak perlu install Python di laptop.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572000" y="1554480"/>
            <a:ext cx="3017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755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F8A67"/>
                </a:solidFill>
              </a:rPr>
              <a:t>2. Copy notebook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2121408"/>
            <a:ext cx="25603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Buka notebook student-blank, lalu ikuti fasilitator cell by cell.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321040" y="1554480"/>
            <a:ext cx="3017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1755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</a:rPr>
              <a:t>3. Load dataset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2121408"/>
            <a:ext cx="256032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Dataset bisa dibaca dari GitHub Raw URL agar semua siswa punya data yang sama.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1005840" y="55778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8717A"/>
                </a:solidFill>
              </a:rPr>
              <a:t>Tip fasilitator: projector font besar, jalankan cell pelan-pelan, dan pause setelah setiap 2–3 cell.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 basics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Colab berisi markdown cell dan code cell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4709160" cy="4069080"/>
          </a:xfrm>
          <a:prstGeom prst="roundRect">
            <a:avLst>
              <a:gd name="adj" fmla="val 2697"/>
            </a:avLst>
          </a:prstGeom>
          <a:solidFill>
            <a:srgbClr val="F4F7FA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874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5D80"/>
                </a:solidFill>
              </a:rPr>
              <a:t>Markdown cell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88720" y="2423160"/>
            <a:ext cx="38862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</a:rPr>
              <a:t>Dipakai untuk judul, penjelasan, dan kesimpulan. Inilah yang membuat notebook terlihat seperti laporan.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508760"/>
            <a:ext cx="4709160" cy="4069080"/>
          </a:xfrm>
          <a:prstGeom prst="roundRect">
            <a:avLst>
              <a:gd name="adj" fmla="val 2697"/>
            </a:avLst>
          </a:prstGeom>
          <a:solidFill>
            <a:srgbClr val="F4F7FA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1874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8A67"/>
                </a:solidFill>
              </a:rPr>
              <a:t>Code cell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995160" y="2423160"/>
            <a:ext cx="38862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</a:rPr>
              <a:t>Dipakai untuk menjalankan Python. Setiap cell bisa dieksekusi satu per satu dan hasilnya muncul langsung di bawah.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5897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</a:rPr>
              <a:t>Shift + Enter = run cell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Membaca data dengan pandas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Satu baris penting: pd.read_csv(...)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61320" cy="1828800"/>
          </a:xfrm>
          <a:prstGeom prst="roundRect">
            <a:avLst>
              <a:gd name="adj" fmla="val 5000"/>
            </a:avLst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78308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pd.read_csv('dataset_penjualan_susu_boyolali.csv')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97840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900" dirty="0">
                <a:solidFill>
                  <a:srgbClr val="1C1C1C"/>
                </a:solidFill>
              </a:rPr>
              <a:t>`df` adalah DataFrame: tabel data di Python</a:t>
            </a:r>
            <a:endParaRPr lang="en-US" sz="1900" dirty="0"/>
          </a:p>
          <a:p>
            <a:r>
              <a:rPr lang="en-US" sz="1900" dirty="0">
                <a:solidFill>
                  <a:srgbClr val="1C1C1C"/>
                </a:solidFill>
              </a:rPr>
              <a:t>`read_csv` membaca file CSV menjadi tabel</a:t>
            </a:r>
            <a:endParaRPr lang="en-US" sz="1900" dirty="0"/>
          </a:p>
          <a:p>
            <a:r>
              <a:rPr lang="en-US" sz="1900" dirty="0">
                <a:solidFill>
                  <a:srgbClr val="1C1C1C"/>
                </a:solidFill>
              </a:rPr>
              <a:t>`head()` menampilkan 5 baris pertama untuk cek cepat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Eksplorasi awal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Sebelum analisis, kenali dulu dataset-nya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2468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F5D80"/>
                </a:solidFill>
              </a:rPr>
              <a:t>shape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075688"/>
            <a:ext cx="201168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Berapa baris dan kolom?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3611880" y="1508760"/>
            <a:ext cx="2468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F8A67"/>
                </a:solidFill>
              </a:rPr>
              <a:t>info()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075688"/>
            <a:ext cx="201168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Tipe data dan missing values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400800" y="1508760"/>
            <a:ext cx="2468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</a:rPr>
              <a:t>describe()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075688"/>
            <a:ext cx="201168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Statistik angka: mean, min, max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9189720" y="1508760"/>
            <a:ext cx="2468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F5D80"/>
                </a:solidFill>
              </a:rPr>
              <a:t>head()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18320" y="2075688"/>
            <a:ext cx="201168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Cek bentuk data secara visual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1097280" y="54864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8324A"/>
                </a:solidFill>
              </a:rPr>
              <a:t>Mindset: jangan langsung percaya dataset. Selalu cek dulu.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cleaning: bagian paling nyata dari data science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Data kotor bukan masalah — asal kita tahu cara memperbaikinya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55778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800" dirty="0">
                <a:solidFill>
                  <a:srgbClr val="1C1C1C"/>
                </a:solidFill>
              </a:rPr>
              <a:t>Missing value: harga_satuan kosong → isi dengan median per produk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String tidak konsisten: “susu segar”, “SUSU SEGAR” → rapikan dengan str.title()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Duplikat: baris yang sama muncul dua kali → drop_duplicates()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Total penjualan: hitung ulang agar konsisten setelah cleaning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40880" y="1371600"/>
            <a:ext cx="3840480" cy="3749040"/>
          </a:xfrm>
          <a:prstGeom prst="roundRect">
            <a:avLst>
              <a:gd name="adj" fmla="val 2927"/>
            </a:avLst>
          </a:prstGeom>
          <a:solidFill>
            <a:srgbClr val="FFF6F3"/>
          </a:solidFill>
          <a:ln w="12700">
            <a:solidFill>
              <a:srgbClr val="F4D4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534F"/>
                </a:solidFill>
              </a:rPr>
              <a:t>Golden rule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43800" y="2514600"/>
            <a:ext cx="29718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324A"/>
                </a:solidFill>
              </a:rPr>
              <a:t>Cleaning bukan “mengarang data”. Cleaning adalah membuat data lebih konsisten agar analisis tidak menyesatkan.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analysis dengan groupby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Dari banyak baris data menjadi jawaban ringkas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754880" cy="4206240"/>
          </a:xfrm>
          <a:prstGeom prst="roundRect">
            <a:avLst>
              <a:gd name="adj" fmla="val 2609"/>
            </a:avLst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37360"/>
            <a:ext cx="4251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df.groupby('produk')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.agg(total_qty=('jumlah_terjual','sum'),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total_penjualan=('total_penjualan','sum'))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.sort_values('total_penjualan', ascending=False)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640080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A67"/>
                </a:solidFill>
              </a:rPr>
              <a:t>Apa artinya?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0" y="2148840"/>
            <a:ext cx="420624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800" dirty="0">
                <a:solidFill>
                  <a:srgbClr val="1C1C1C"/>
                </a:solidFill>
              </a:rPr>
              <a:t>Kelompokkan baris berdasarkan produk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Hitung total jumlah dan total penjualan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Urutkan dari yang paling besar</a:t>
            </a:r>
            <a:endParaRPr lang="en-US" sz="1800" dirty="0"/>
          </a:p>
          <a:p>
            <a:r>
              <a:rPr lang="en-US" sz="1800" dirty="0">
                <a:solidFill>
                  <a:srgbClr val="1C1C1C"/>
                </a:solidFill>
              </a:rPr>
              <a:t>Hasilnya langsung menjawab produk prioritas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Visualisasi: membuat insight cepat terlihat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Grafik yang baik membantu audiens paham dalam beberapa detik</a:t>
            </a:r>
            <a:endParaRPr lang="en-US" sz="1150" dirty="0"/>
          </a:p>
        </p:txBody>
      </p:sp>
      <p:pic>
        <p:nvPicPr>
          <p:cNvPr id="4" name="Image 0" descr="/mnt/data/boyolali_workshop_assets/chart_produk.png">    </p:cNvPr>
          <p:cNvPicPr>
            <a:picLocks noChangeAspect="1"/>
          </p:cNvPicPr>
          <p:nvPr/>
        </p:nvPicPr>
        <p:blipFill>
          <a:blip r:embed="rId1"/>
          <a:srcRect l="3715" r="3715" t="0" b="0"/>
          <a:stretch/>
        </p:blipFill>
        <p:spPr>
          <a:xfrm>
            <a:off x="685800" y="1325880"/>
            <a:ext cx="5257800" cy="3154680"/>
          </a:xfrm>
          <a:prstGeom prst="rect">
            <a:avLst/>
          </a:prstGeom>
        </p:spPr>
      </p:pic>
      <p:pic>
        <p:nvPicPr>
          <p:cNvPr id="5" name="Image 1" descr="/mnt/data/boyolali_workshop_assets/chart_bulanan.png">    </p:cNvPr>
          <p:cNvPicPr>
            <a:picLocks noChangeAspect="1"/>
          </p:cNvPicPr>
          <p:nvPr/>
        </p:nvPicPr>
        <p:blipFill>
          <a:blip r:embed="rId2"/>
          <a:srcRect l="3692" r="3692" t="0" b="0"/>
          <a:stretch/>
        </p:blipFill>
        <p:spPr>
          <a:xfrm>
            <a:off x="6263640" y="1325880"/>
            <a:ext cx="5257800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45920" y="4892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24A"/>
                </a:solidFill>
              </a:rPr>
              <a:t>Bar chart untuk perbandingan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269480" y="4892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24A"/>
                </a:solidFill>
              </a:rPr>
              <a:t>Line chart untuk tren waktu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 tersembunyi: cari cerita, bukan hanya angka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Dataset sengaja punya pola yang bisa ditemukan siswa</a:t>
            </a:r>
            <a:endParaRPr lang="en-US" sz="1150" dirty="0"/>
          </a:p>
        </p:txBody>
      </p:sp>
      <p:pic>
        <p:nvPicPr>
          <p:cNvPr id="4" name="Image 0" descr="/mnt/data/boyolali_workshop_assets/chart_yogurt_cepogo.png">    </p:cNvPr>
          <p:cNvPicPr>
            <a:picLocks noChangeAspect="1"/>
          </p:cNvPicPr>
          <p:nvPr/>
        </p:nvPicPr>
        <p:blipFill>
          <a:blip r:embed="rId1"/>
          <a:srcRect l="12334" r="12334" t="0" b="0"/>
          <a:stretch/>
        </p:blipFill>
        <p:spPr>
          <a:xfrm>
            <a:off x="731520" y="1325880"/>
            <a:ext cx="539496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37960" y="1508760"/>
            <a:ext cx="475488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750" dirty="0">
                <a:solidFill>
                  <a:srgbClr val="1C1C1C"/>
                </a:solidFill>
              </a:rPr>
              <a:t>Yogurt kuat di Cepogo → contoh segmentasi geografis</a:t>
            </a:r>
            <a:endParaRPr lang="en-US" sz="1750" dirty="0"/>
          </a:p>
          <a:p>
            <a:r>
              <a:rPr lang="en-US" sz="1750" dirty="0">
                <a:solidFill>
                  <a:srgbClr val="1C1C1C"/>
                </a:solidFill>
              </a:rPr>
              <a:t>Susu Segar &amp; Es Krim naik saat suhu udara lebih panas</a:t>
            </a:r>
            <a:endParaRPr lang="en-US" sz="1750" dirty="0"/>
          </a:p>
          <a:p>
            <a:r>
              <a:rPr lang="en-US" sz="1750" dirty="0">
                <a:solidFill>
                  <a:srgbClr val="1C1C1C"/>
                </a:solidFill>
              </a:rPr>
              <a:t>Promo lebih terasa di Toko Modern daripada Warung</a:t>
            </a:r>
            <a:endParaRPr lang="en-US" sz="1750" dirty="0"/>
          </a:p>
          <a:p>
            <a:r>
              <a:rPr lang="en-US" sz="1750" dirty="0">
                <a:solidFill>
                  <a:srgbClr val="1C1C1C"/>
                </a:solidFill>
              </a:rPr>
              <a:t>Keju Mozzarella naik saat akhir pekan / hari libur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29400" y="4892040"/>
            <a:ext cx="43434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F8A67"/>
                </a:solidFill>
              </a:rPr>
              <a:t>Fasilitator dapat menanyakan: “Kalau kamu jadi manajer, strategi apa yang akan kamu ambil?”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Correlation heatmap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Melihat hubungan antar variabel dengan warna</a:t>
            </a:r>
            <a:endParaRPr lang="en-US" sz="1150" dirty="0"/>
          </a:p>
        </p:txBody>
      </p:sp>
      <p:pic>
        <p:nvPicPr>
          <p:cNvPr id="4" name="Image 0" descr="/mnt/data/boyolali_workshop_assets/chart_heatmap.png">    </p:cNvPr>
          <p:cNvPicPr>
            <a:picLocks noChangeAspect="1"/>
          </p:cNvPicPr>
          <p:nvPr/>
        </p:nvPicPr>
        <p:blipFill>
          <a:blip r:embed="rId1"/>
          <a:srcRect l="5960" r="5960" t="0" b="0"/>
          <a:stretch/>
        </p:blipFill>
        <p:spPr>
          <a:xfrm>
            <a:off x="731520" y="1143000"/>
            <a:ext cx="484632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324A"/>
                </a:solidFill>
              </a:rPr>
              <a:t>Cara baca cepat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09360" y="2057400"/>
            <a:ext cx="493776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700" dirty="0">
                <a:solidFill>
                  <a:srgbClr val="1C1C1C"/>
                </a:solidFill>
              </a:rPr>
              <a:t>Mendekati +1: dua variabel cenderung naik bersama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Mendekati -1: satu naik, yang lain turun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Mendekati 0: hubungan linear lemah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Correlation membantu menemukan dugaan, bukan langsung membuktikan sebab-akibat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Bagian “wah”: prediksi sederhana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Linear Regression: belajar pola lama untuk menebak nilai baru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EEF4FA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91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80"/>
                </a:solidFill>
              </a:rPr>
              <a:t>Input: suhu udara + harga + promo + hari libur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94960" y="16916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8717A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0" y="1691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8A67"/>
                </a:solidFill>
              </a:rPr>
              <a:t>Model belajar pola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83880" y="16916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8717A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778240" y="16916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</a:rPr>
              <a:t>Prediksi jumlah terjual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971800"/>
            <a:ext cx="4572000" cy="2240280"/>
          </a:xfrm>
          <a:prstGeom prst="roundRect">
            <a:avLst>
              <a:gd name="adj" fmla="val 3265"/>
            </a:avLst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3520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prediksi = model.predict(X_test)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3063240"/>
            <a:ext cx="47548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700" dirty="0">
                <a:solidFill>
                  <a:srgbClr val="1C1C1C"/>
                </a:solidFill>
              </a:rPr>
              <a:t>Tidak perlu rumus panjang di kelas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Tekankan konsep: training data → pattern → prediction</a:t>
            </a:r>
            <a:endParaRPr lang="en-US" sz="1700" dirty="0"/>
          </a:p>
          <a:p>
            <a:r>
              <a:rPr lang="en-US" sz="1700" dirty="0">
                <a:solidFill>
                  <a:srgbClr val="1C1C1C"/>
                </a:solidFill>
              </a:rPr>
              <a:t>Gunakan hasil MAE/R² untuk bahas “model belum tentu sempurna”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Anomaly detection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Menemukan data yang terlalu aneh untuk langsung dipercaya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3200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</a:rPr>
              <a:t>Contoh masalah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029968"/>
            <a:ext cx="274320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Satu baris memiliki jumlah terjual 5× normal. Bisa jadi event besar, bisa juga salah input.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526280" y="1463040"/>
            <a:ext cx="3200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F5D80"/>
                </a:solidFill>
              </a:rPr>
              <a:t>Teknik sederhana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029968"/>
            <a:ext cx="274320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Hitung z-score. Jika jauh dari rata-rata, tandai sebagai anomali untuk dicek.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200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F8A67"/>
                </a:solidFill>
              </a:rPr>
              <a:t>Pelajaran utama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58200" y="2029968"/>
            <a:ext cx="274320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Data analyst tidak hanya membuat grafik, tetapi juga menjaga kualitas keputusan.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1463040" y="5486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</a:rPr>
              <a:t>Pertanyaan diskusi: “Kalau data aneh ditemukan, apakah langsung dihapus?”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Menulis insight yang kuat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Gunakan pola: Temuan → Bukti → Makna → Rekomendasi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423160" cy="2286000"/>
          </a:xfrm>
          <a:prstGeom prst="roundRect">
            <a:avLst>
              <a:gd name="adj" fmla="val 4800"/>
            </a:avLst>
          </a:prstGeom>
          <a:solidFill>
            <a:srgbClr val="2F5D80"/>
          </a:solidFill>
          <a:ln w="12700">
            <a:solidFill>
              <a:srgbClr val="2F5D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48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Temuan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834640"/>
            <a:ext cx="1965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Apa pola utama yang ditemukan?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11880" y="1828800"/>
            <a:ext cx="2423160" cy="2286000"/>
          </a:xfrm>
          <a:prstGeom prst="roundRect">
            <a:avLst>
              <a:gd name="adj" fmla="val 4800"/>
            </a:avLst>
          </a:prstGeom>
          <a:solidFill>
            <a:srgbClr val="4F8A67"/>
          </a:solidFill>
          <a:ln w="12700">
            <a:solidFill>
              <a:srgbClr val="4F8A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2148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Bukti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0" y="2834640"/>
            <a:ext cx="1965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Angka/grafik mana yang mendukung?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2423160" cy="2286000"/>
          </a:xfrm>
          <a:prstGeom prst="roundRect">
            <a:avLst>
              <a:gd name="adj" fmla="val 48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148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Makna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29400" y="2834640"/>
            <a:ext cx="1965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Kenapa ini penting untuk bisnis?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89720" y="1828800"/>
            <a:ext cx="2423160" cy="2286000"/>
          </a:xfrm>
          <a:prstGeom prst="roundRect">
            <a:avLst>
              <a:gd name="adj" fmla="val 4800"/>
            </a:avLst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2148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Rekomendasi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418320" y="2834640"/>
            <a:ext cx="1965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Apa tindakan yang sebaiknya dilakukan?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5074920"/>
            <a:ext cx="9875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24A"/>
                </a:solidFill>
              </a:rPr>
              <a:t>Contoh: “Promo lebih efektif di Toko Modern karena rata-rata jumlah terjual saat promo lebih tinggi; maka promo berikutnya bisa difokuskan ke channel tersebut.”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Tips fasilitator saat live coding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Kunci workshop: ritme pelan, jelas, dan interaktif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576072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750" dirty="0">
                <a:solidFill>
                  <a:srgbClr val="1C1C1C"/>
                </a:solidFill>
              </a:rPr>
              <a:t>Setelah setiap cell penting, pause dan tanya: “hasilnya sama?”</a:t>
            </a:r>
            <a:endParaRPr lang="en-US" sz="1750" dirty="0"/>
          </a:p>
          <a:p>
            <a:r>
              <a:rPr lang="en-US" sz="1750" dirty="0">
                <a:solidFill>
                  <a:srgbClr val="1C1C1C"/>
                </a:solidFill>
              </a:rPr>
              <a:t>Jika ada error, jadikan momen belajar: baca error message bersama</a:t>
            </a:r>
            <a:endParaRPr lang="en-US" sz="1750" dirty="0"/>
          </a:p>
          <a:p>
            <a:r>
              <a:rPr lang="en-US" sz="1750" dirty="0">
                <a:solidFill>
                  <a:srgbClr val="1C1C1C"/>
                </a:solidFill>
              </a:rPr>
              <a:t>Minta siswa menebak hasil sebelum menjalankan cell</a:t>
            </a:r>
            <a:endParaRPr lang="en-US" sz="1750" dirty="0"/>
          </a:p>
          <a:p>
            <a:r>
              <a:rPr lang="en-US" sz="1750" dirty="0">
                <a:solidFill>
                  <a:srgbClr val="1C1C1C"/>
                </a:solidFill>
              </a:rPr>
              <a:t>Tekankan komentar kode: komentar membantu manusia memahami program</a:t>
            </a:r>
            <a:endParaRPr lang="en-US" sz="1750" dirty="0"/>
          </a:p>
          <a:p>
            <a:r>
              <a:rPr lang="en-US" sz="1750" dirty="0">
                <a:solidFill>
                  <a:srgbClr val="1C1C1C"/>
                </a:solidFill>
              </a:rPr>
              <a:t>Gunakan bahasa Indonesia untuk konsep, pertahankan nama fungsi Python dalam English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360920" y="150876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E8F2EC"/>
          </a:solidFill>
          <a:ln w="12700">
            <a:solidFill>
              <a:srgbClr val="E8F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874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8A67"/>
                </a:solidFill>
              </a:rPr>
              <a:t>Rule of thumb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0" y="2651760"/>
            <a:ext cx="26060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324A"/>
                </a:solidFill>
              </a:rPr>
              <a:t>Lebih baik siswa paham 8 pola pandas dengan baik daripada melihat 30 fungsi tapi bingung.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Closing: kalian baru saja menjadi data analyst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8717A"/>
                </a:solidFill>
              </a:rPr>
              <a:t>Skill hari ini bisa dipakai untuk banyak masalah nyata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A"/>
                </a:solidFill>
              </a:rPr>
              <a:t>Yang kalian lakukan hari ini: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1965960"/>
            <a:ext cx="53492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50" dirty="0">
                <a:solidFill>
                  <a:srgbClr val="1C1C1C"/>
                </a:solidFill>
              </a:rPr>
              <a:t>Membaca dataset CSV dengan Python</a:t>
            </a:r>
            <a:endParaRPr lang="en-US" sz="1650" dirty="0"/>
          </a:p>
          <a:p>
            <a:r>
              <a:rPr lang="en-US" sz="1650" dirty="0">
                <a:solidFill>
                  <a:srgbClr val="1C1C1C"/>
                </a:solidFill>
              </a:rPr>
              <a:t>Membersihkan data mentah agar siap dianalisis</a:t>
            </a:r>
            <a:endParaRPr lang="en-US" sz="1650" dirty="0"/>
          </a:p>
          <a:p>
            <a:r>
              <a:rPr lang="en-US" sz="1650" dirty="0">
                <a:solidFill>
                  <a:srgbClr val="1C1C1C"/>
                </a:solidFill>
              </a:rPr>
              <a:t>Membuat analisis bisnis dengan groupby/pivot</a:t>
            </a:r>
            <a:endParaRPr lang="en-US" sz="1650" dirty="0"/>
          </a:p>
          <a:p>
            <a:r>
              <a:rPr lang="en-US" sz="1650" dirty="0">
                <a:solidFill>
                  <a:srgbClr val="1C1C1C"/>
                </a:solidFill>
              </a:rPr>
              <a:t>Membuat grafik dan heatmap</a:t>
            </a:r>
            <a:endParaRPr lang="en-US" sz="1650" dirty="0"/>
          </a:p>
          <a:p>
            <a:r>
              <a:rPr lang="en-US" sz="1650" dirty="0">
                <a:solidFill>
                  <a:srgbClr val="1C1C1C"/>
                </a:solidFill>
              </a:rPr>
              <a:t>Mencoba model prediksi sederhana</a:t>
            </a:r>
            <a:endParaRPr lang="en-US" sz="1650" dirty="0"/>
          </a:p>
          <a:p>
            <a:r>
              <a:rPr lang="en-US" sz="1650" dirty="0">
                <a:solidFill>
                  <a:srgbClr val="1C1C1C"/>
                </a:solidFill>
              </a:rPr>
              <a:t>Menulis rekomendasi berbasis data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903720" y="1554480"/>
            <a:ext cx="4114800" cy="3977640"/>
          </a:xfrm>
          <a:prstGeom prst="roundRect">
            <a:avLst>
              <a:gd name="adj" fmla="val 3218"/>
            </a:avLst>
          </a:prstGeom>
          <a:solidFill>
            <a:srgbClr val="18324A"/>
          </a:solidFill>
          <a:ln w="12700">
            <a:solidFill>
              <a:srgbClr val="18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0920" y="23774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→ Cerita → Keputusan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49808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</a:rPr>
              <a:t>Terima kasih!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17A"/>
                </a:solidFill>
              </a:rPr>
              <a:t>Balik Kampoeng × SMAN 1 Boyolali | 29 Mei 2026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475720" y="65105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8717A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Balik Kampoeng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Data Science: Mengolah Data Menjadi Cerita Bisnis</dc:title>
  <dc:subject>Workshop Data Science: Mengolah Data Menjadi Cerita Bisnis</dc:subject>
  <dc:creator>OpenAI</dc:creator>
  <cp:lastModifiedBy>OpenAI</cp:lastModifiedBy>
  <cp:revision>1</cp:revision>
  <dcterms:created xsi:type="dcterms:W3CDTF">2026-05-08T14:37:54Z</dcterms:created>
  <dcterms:modified xsi:type="dcterms:W3CDTF">2026-05-08T14:37:54Z</dcterms:modified>
</cp:coreProperties>
</file>